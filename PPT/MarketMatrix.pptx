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nton" charset="1" panose="00000500000000000000"/>
      <p:regular r:id="rId26"/>
    </p:embeddedFont>
    <p:embeddedFont>
      <p:font typeface="Poppins Medium" charset="1" panose="00000600000000000000"/>
      <p:regular r:id="rId27"/>
    </p:embeddedFont>
    <p:embeddedFont>
      <p:font typeface="PT Serif" charset="1" panose="020A0603040505020204"/>
      <p:regular r:id="rId28"/>
    </p:embeddedFont>
    <p:embeddedFont>
      <p:font typeface="PT Serif Bold" charset="1" panose="020A0703040505020204"/>
      <p:regular r:id="rId29"/>
    </p:embeddedFont>
    <p:embeddedFont>
      <p:font typeface="Poppins Bold" charset="1" panose="00000800000000000000"/>
      <p:regular r:id="rId30"/>
    </p:embeddedFont>
    <p:embeddedFont>
      <p:font typeface="Poppins" charset="1" panose="00000500000000000000"/>
      <p:regular r:id="rId31"/>
    </p:embeddedFont>
    <p:embeddedFont>
      <p:font typeface="TT Norms Bold" charset="1" panose="020008030300000200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jpe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0.png" Type="http://schemas.openxmlformats.org/officeDocument/2006/relationships/image"/><Relationship Id="rId7" Target="../media/image2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jpe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0.png" Type="http://schemas.openxmlformats.org/officeDocument/2006/relationships/image"/><Relationship Id="rId7" Target="../media/image2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9.png" Type="http://schemas.openxmlformats.org/officeDocument/2006/relationships/image"/><Relationship Id="rId5" Target="../media/image30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9.png" Type="http://schemas.openxmlformats.org/officeDocument/2006/relationships/image"/><Relationship Id="rId5" Target="../media/image30.jpe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26683" y="1363862"/>
            <a:ext cx="10104369" cy="1010436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58878" t="-18048" r="-58439" b="-177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52432" y="3356188"/>
            <a:ext cx="12587585" cy="271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01"/>
              </a:lnSpc>
              <a:spcBef>
                <a:spcPct val="0"/>
              </a:spcBef>
            </a:pPr>
            <a:r>
              <a:rPr lang="en-US" sz="1585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MARKET MATRIX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13393" y="5988024"/>
            <a:ext cx="9861214" cy="79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6"/>
              </a:lnSpc>
              <a:spcBef>
                <a:spcPct val="0"/>
              </a:spcBef>
            </a:pPr>
            <a:r>
              <a:rPr lang="en-US" b="true" sz="2297" spc="1134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INTELIGENCIA DE DATOS PARA LA TOMA DE DECISIONES FINANCIERAS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42536" y="1542154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Cripto currency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62408" y="7929649"/>
            <a:ext cx="3482770" cy="21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7"/>
              </a:lnSpc>
            </a:pPr>
            <a:r>
              <a:rPr lang="en-US" sz="2190" b="true">
                <a:solidFill>
                  <a:srgbClr val="FEBD02"/>
                </a:solidFill>
                <a:latin typeface="PT Serif Bold"/>
                <a:ea typeface="PT Serif Bold"/>
                <a:cs typeface="PT Serif Bold"/>
                <a:sym typeface="PT Serif Bold"/>
              </a:rPr>
              <a:t>Equipo 2</a:t>
            </a:r>
          </a:p>
          <a:p>
            <a:pPr algn="just" marL="365066" indent="-182533" lvl="1">
              <a:lnSpc>
                <a:spcPts val="2367"/>
              </a:lnSpc>
              <a:buFont typeface="Arial"/>
              <a:buChar char="•"/>
            </a:pPr>
            <a:r>
              <a:rPr lang="en-US" sz="169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Aguilar Pérez José Ramóm</a:t>
            </a:r>
          </a:p>
          <a:p>
            <a:pPr algn="just" marL="365066" indent="-182533" lvl="1">
              <a:lnSpc>
                <a:spcPts val="2367"/>
              </a:lnSpc>
              <a:buFont typeface="Arial"/>
              <a:buChar char="•"/>
            </a:pPr>
            <a:r>
              <a:rPr lang="en-US" sz="169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Domínguez Chávez Jesús Abne</a:t>
            </a:r>
            <a:r>
              <a:rPr lang="en-US" sz="169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r</a:t>
            </a:r>
          </a:p>
          <a:p>
            <a:pPr algn="just" marL="365066" indent="-182533" lvl="1">
              <a:lnSpc>
                <a:spcPts val="2367"/>
              </a:lnSpc>
              <a:buFont typeface="Arial"/>
              <a:buChar char="•"/>
            </a:pPr>
            <a:r>
              <a:rPr lang="en-US" sz="169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Rosas Meza Isaías</a:t>
            </a:r>
          </a:p>
          <a:p>
            <a:pPr algn="just" marL="365066" indent="-182533" lvl="1">
              <a:lnSpc>
                <a:spcPts val="2367"/>
              </a:lnSpc>
              <a:buFont typeface="Arial"/>
              <a:buChar char="•"/>
            </a:pPr>
            <a:r>
              <a:rPr lang="en-US" sz="169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Sánchez Calvillo Saida Mayela</a:t>
            </a:r>
          </a:p>
          <a:p>
            <a:pPr algn="just" marL="365066" indent="-182533" lvl="1">
              <a:lnSpc>
                <a:spcPts val="2367"/>
              </a:lnSpc>
              <a:buFont typeface="Arial"/>
              <a:buChar char="•"/>
            </a:pPr>
            <a:r>
              <a:rPr lang="en-US" sz="169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Xinastle Rosas Elioth</a:t>
            </a:r>
          </a:p>
          <a:p>
            <a:pPr algn="r">
              <a:lnSpc>
                <a:spcPts val="2367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914763" y="-1963942"/>
            <a:ext cx="7107442" cy="71074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58878" t="-18048" r="-58439" b="-1777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5542" y="734745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823" y="2795299"/>
            <a:ext cx="1897753" cy="1793377"/>
          </a:xfrm>
          <a:custGeom>
            <a:avLst/>
            <a:gdLst/>
            <a:ahLst/>
            <a:cxnLst/>
            <a:rect r="r" b="b" t="t" l="l"/>
            <a:pathLst>
              <a:path h="1793377" w="1897753">
                <a:moveTo>
                  <a:pt x="0" y="0"/>
                </a:moveTo>
                <a:lnTo>
                  <a:pt x="1897754" y="0"/>
                </a:lnTo>
                <a:lnTo>
                  <a:pt x="1897754" y="1793377"/>
                </a:lnTo>
                <a:lnTo>
                  <a:pt x="0" y="17933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00652" y="819150"/>
            <a:ext cx="9486697" cy="1812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40"/>
              </a:lnSpc>
              <a:spcBef>
                <a:spcPct val="0"/>
              </a:spcBef>
            </a:pPr>
            <a:r>
              <a:rPr lang="en-US" sz="1052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MARKET MATRIX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39101" y="2680999"/>
            <a:ext cx="10609798" cy="196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8"/>
              </a:lnSpc>
            </a:pPr>
            <a:r>
              <a:rPr lang="en-US" b="true" sz="3677" spc="1018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COMPRA-VENTA DE CRIPTOMONEDAS (BITCOIN)</a:t>
            </a:r>
          </a:p>
          <a:p>
            <a:pPr algn="ctr">
              <a:lnSpc>
                <a:spcPts val="5148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039357" y="4730714"/>
            <a:ext cx="12209285" cy="515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457" b="true">
                <a:solidFill>
                  <a:srgbClr val="FEBD02"/>
                </a:solidFill>
                <a:latin typeface="Poppins Bold"/>
                <a:ea typeface="Poppins Bold"/>
                <a:cs typeface="Poppins Bold"/>
                <a:sym typeface="Poppins Bold"/>
              </a:rPr>
              <a:t>El Problema:</a:t>
            </a:r>
            <a:r>
              <a:rPr lang="en-US" sz="2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volatilidad extrema de las criptomonedas genera una incertidumbre técnica que impide identificar con claridad si se debe comprar, vender o mantener una posición.</a:t>
            </a:r>
          </a:p>
          <a:p>
            <a:pPr algn="ctr">
              <a:lnSpc>
                <a:spcPts val="3440"/>
              </a:lnSpc>
            </a:pPr>
            <a:r>
              <a:rPr lang="en-US" sz="2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440"/>
              </a:lnSpc>
            </a:pPr>
            <a:r>
              <a:rPr lang="en-US" sz="2457" b="true">
                <a:solidFill>
                  <a:srgbClr val="FFCF01"/>
                </a:solidFill>
                <a:latin typeface="Poppins Bold"/>
                <a:ea typeface="Poppins Bold"/>
                <a:cs typeface="Poppins Bold"/>
                <a:sym typeface="Poppins Bold"/>
              </a:rPr>
              <a:t>La Oportunidad:</a:t>
            </a:r>
            <a:r>
              <a:rPr lang="en-US" sz="2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MarketMatrix resuelve este problema mediante un motor analítico que procesa indicadores técnicos (RSI, MACD, Bollinger) para entregar recomendaciones precisas de inversión.</a:t>
            </a:r>
          </a:p>
          <a:p>
            <a:pPr algn="ctr">
              <a:lnSpc>
                <a:spcPts val="3440"/>
              </a:lnSpc>
            </a:pPr>
          </a:p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b="true" sz="2457">
                <a:solidFill>
                  <a:srgbClr val="FFCF01"/>
                </a:solidFill>
                <a:latin typeface="Poppins Bold"/>
                <a:ea typeface="Poppins Bold"/>
                <a:cs typeface="Poppins Bold"/>
                <a:sym typeface="Poppins Bold"/>
              </a:rPr>
              <a:t>La Industria:</a:t>
            </a:r>
            <a:r>
              <a:rPr lang="en-US" sz="2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sector financiero digital requiere herramientas de procesamiento masivo que transformen el historial de precios OHLCV en señales objetivas.</a:t>
            </a:r>
          </a:p>
          <a:p>
            <a:pPr algn="ctr">
              <a:lnSpc>
                <a:spcPts val="3440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361547" y="2795299"/>
            <a:ext cx="1897753" cy="1793377"/>
          </a:xfrm>
          <a:custGeom>
            <a:avLst/>
            <a:gdLst/>
            <a:ahLst/>
            <a:cxnLst/>
            <a:rect r="r" b="b" t="t" l="l"/>
            <a:pathLst>
              <a:path h="1793377" w="1897753">
                <a:moveTo>
                  <a:pt x="0" y="0"/>
                </a:moveTo>
                <a:lnTo>
                  <a:pt x="1897753" y="0"/>
                </a:lnTo>
                <a:lnTo>
                  <a:pt x="1897753" y="1793377"/>
                </a:lnTo>
                <a:lnTo>
                  <a:pt x="0" y="17933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73648" y="-2051201"/>
            <a:ext cx="7624137" cy="4345758"/>
          </a:xfrm>
          <a:custGeom>
            <a:avLst/>
            <a:gdLst/>
            <a:ahLst/>
            <a:cxnLst/>
            <a:rect r="r" b="b" t="t" l="l"/>
            <a:pathLst>
              <a:path h="4345758" w="7624137">
                <a:moveTo>
                  <a:pt x="0" y="0"/>
                </a:moveTo>
                <a:lnTo>
                  <a:pt x="7624137" y="0"/>
                </a:lnTo>
                <a:lnTo>
                  <a:pt x="7624137" y="4345758"/>
                </a:lnTo>
                <a:lnTo>
                  <a:pt x="0" y="4345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13898" y="943013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0"/>
                </a:moveTo>
                <a:lnTo>
                  <a:pt x="7674102" y="0"/>
                </a:lnTo>
                <a:lnTo>
                  <a:pt x="76741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3147" y="4134217"/>
            <a:ext cx="7669890" cy="180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0"/>
              </a:lnSpc>
              <a:spcBef>
                <a:spcPct val="0"/>
              </a:spcBef>
            </a:pPr>
            <a:r>
              <a:rPr lang="en-US" sz="1052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ARQUITECTURA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969383" y="7930407"/>
            <a:ext cx="7624137" cy="4345758"/>
          </a:xfrm>
          <a:custGeom>
            <a:avLst/>
            <a:gdLst/>
            <a:ahLst/>
            <a:cxnLst/>
            <a:rect r="r" b="b" t="t" l="l"/>
            <a:pathLst>
              <a:path h="4345758" w="7624137">
                <a:moveTo>
                  <a:pt x="0" y="0"/>
                </a:moveTo>
                <a:lnTo>
                  <a:pt x="7624136" y="0"/>
                </a:lnTo>
                <a:lnTo>
                  <a:pt x="7624136" y="4345758"/>
                </a:lnTo>
                <a:lnTo>
                  <a:pt x="0" y="4345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491529" y="8535014"/>
            <a:ext cx="1934151" cy="1002242"/>
          </a:xfrm>
          <a:custGeom>
            <a:avLst/>
            <a:gdLst/>
            <a:ahLst/>
            <a:cxnLst/>
            <a:rect r="r" b="b" t="t" l="l"/>
            <a:pathLst>
              <a:path h="1002242" w="1934151">
                <a:moveTo>
                  <a:pt x="1934150" y="1002242"/>
                </a:moveTo>
                <a:lnTo>
                  <a:pt x="0" y="1002242"/>
                </a:lnTo>
                <a:lnTo>
                  <a:pt x="0" y="0"/>
                </a:lnTo>
                <a:lnTo>
                  <a:pt x="1934150" y="0"/>
                </a:lnTo>
                <a:lnTo>
                  <a:pt x="1934150" y="10022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15868" y="6545573"/>
            <a:ext cx="1934151" cy="1002242"/>
          </a:xfrm>
          <a:custGeom>
            <a:avLst/>
            <a:gdLst/>
            <a:ahLst/>
            <a:cxnLst/>
            <a:rect r="r" b="b" t="t" l="l"/>
            <a:pathLst>
              <a:path h="1002242" w="1934151">
                <a:moveTo>
                  <a:pt x="0" y="0"/>
                </a:moveTo>
                <a:lnTo>
                  <a:pt x="1934151" y="0"/>
                </a:lnTo>
                <a:lnTo>
                  <a:pt x="1934151" y="1002242"/>
                </a:lnTo>
                <a:lnTo>
                  <a:pt x="0" y="1002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7137981" y="6781690"/>
            <a:ext cx="2476610" cy="2476610"/>
            <a:chOff x="0" y="0"/>
            <a:chExt cx="14840029" cy="14840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FEBD0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-49553" t="0" r="-49553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4759240" y="6391647"/>
            <a:ext cx="1934151" cy="1002242"/>
          </a:xfrm>
          <a:custGeom>
            <a:avLst/>
            <a:gdLst/>
            <a:ahLst/>
            <a:cxnLst/>
            <a:rect r="r" b="b" t="t" l="l"/>
            <a:pathLst>
              <a:path h="1002242" w="1934151">
                <a:moveTo>
                  <a:pt x="0" y="0"/>
                </a:moveTo>
                <a:lnTo>
                  <a:pt x="1934151" y="0"/>
                </a:lnTo>
                <a:lnTo>
                  <a:pt x="1934151" y="1002242"/>
                </a:lnTo>
                <a:lnTo>
                  <a:pt x="0" y="1002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681353" y="6627764"/>
            <a:ext cx="2476610" cy="2476610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FEBD0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38700" t="0" r="-3870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790635" y="6355069"/>
            <a:ext cx="4132649" cy="3021999"/>
          </a:xfrm>
          <a:custGeom>
            <a:avLst/>
            <a:gdLst/>
            <a:ahLst/>
            <a:cxnLst/>
            <a:rect r="r" b="b" t="t" l="l"/>
            <a:pathLst>
              <a:path h="3021999" w="4132649">
                <a:moveTo>
                  <a:pt x="0" y="0"/>
                </a:moveTo>
                <a:lnTo>
                  <a:pt x="4132649" y="0"/>
                </a:lnTo>
                <a:lnTo>
                  <a:pt x="4132649" y="3021999"/>
                </a:lnTo>
                <a:lnTo>
                  <a:pt x="0" y="30219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6857" y="3792503"/>
            <a:ext cx="4400205" cy="21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Flujo en tres capas (Bronze, Silver, Gold) para asegurar que la recomendación final se base en datos íntegros y no en "ruido" de mercado.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8757" y="2142839"/>
            <a:ext cx="4980651" cy="131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8"/>
              </a:lnSpc>
              <a:spcBef>
                <a:spcPct val="0"/>
              </a:spcBef>
            </a:pPr>
            <a:r>
              <a:rPr lang="en-US" b="true" sz="3677" spc="1018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ESTRUCTURA MEDALLION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53675" y="2142839"/>
            <a:ext cx="4980651" cy="131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8"/>
              </a:lnSpc>
              <a:spcBef>
                <a:spcPct val="0"/>
              </a:spcBef>
            </a:pPr>
            <a:r>
              <a:rPr lang="en-US" b="true" sz="3677" spc="1018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ECOSISTEMA SERVERLESS: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3319" y="2142839"/>
            <a:ext cx="4980651" cy="131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8"/>
              </a:lnSpc>
              <a:spcBef>
                <a:spcPct val="0"/>
              </a:spcBef>
            </a:pPr>
            <a:r>
              <a:rPr lang="en-US" b="true" sz="3677" spc="1018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GOBIERNO DE DATOS: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43897" y="3576470"/>
            <a:ext cx="4400205" cy="260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Servicios de AWS que permiten escalar el análisis de una sola moneda a cientos de activos sin incrementar la complejidad de gestión.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93186" y="3531888"/>
            <a:ext cx="4400205" cy="260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sistema garantiza la trazabilidad del dato desde que sale de la API de Binance hasta que se convierte en una decisión financiera en la capa Gold.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28819" y="-6988865"/>
            <a:ext cx="10104369" cy="1010436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>
                <a:alphaModFix amt="17000"/>
              </a:blip>
              <a:stretch>
                <a:fillRect l="-58878" t="-18048" r="-58439" b="-1777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6356991" y="1844429"/>
            <a:ext cx="10104369" cy="1010436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>
                <a:alphaModFix amt="17000"/>
              </a:blip>
              <a:stretch>
                <a:fillRect l="-58878" t="-18048" r="-58439" b="-1777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2231012"/>
            <a:ext cx="18288000" cy="6629400"/>
          </a:xfrm>
          <a:custGeom>
            <a:avLst/>
            <a:gdLst/>
            <a:ahLst/>
            <a:cxnLst/>
            <a:rect r="r" b="b" t="t" l="l"/>
            <a:pathLst>
              <a:path h="6629400" w="18288000">
                <a:moveTo>
                  <a:pt x="0" y="0"/>
                </a:moveTo>
                <a:lnTo>
                  <a:pt x="18288000" y="0"/>
                </a:lnTo>
                <a:lnTo>
                  <a:pt x="18288000" y="6629400"/>
                </a:lnTo>
                <a:lnTo>
                  <a:pt x="0" y="6629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73648" y="-2051201"/>
            <a:ext cx="7624137" cy="4345758"/>
          </a:xfrm>
          <a:custGeom>
            <a:avLst/>
            <a:gdLst/>
            <a:ahLst/>
            <a:cxnLst/>
            <a:rect r="r" b="b" t="t" l="l"/>
            <a:pathLst>
              <a:path h="4345758" w="7624137">
                <a:moveTo>
                  <a:pt x="0" y="0"/>
                </a:moveTo>
                <a:lnTo>
                  <a:pt x="7624137" y="0"/>
                </a:lnTo>
                <a:lnTo>
                  <a:pt x="7624137" y="4345758"/>
                </a:lnTo>
                <a:lnTo>
                  <a:pt x="0" y="4345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13898" y="943013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0"/>
                </a:moveTo>
                <a:lnTo>
                  <a:pt x="7674102" y="0"/>
                </a:lnTo>
                <a:lnTo>
                  <a:pt x="76741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3147" y="4134217"/>
            <a:ext cx="7669890" cy="36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0"/>
              </a:lnSpc>
            </a:pPr>
            <a:r>
              <a:rPr lang="en-US" sz="1052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PROCESOS DE </a:t>
            </a:r>
          </a:p>
          <a:p>
            <a:pPr algn="l">
              <a:lnSpc>
                <a:spcPts val="14740"/>
              </a:lnSpc>
              <a:spcBef>
                <a:spcPct val="0"/>
              </a:spcBef>
            </a:pPr>
            <a:r>
              <a:rPr lang="en-US" sz="1052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ARQUITECTURA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969383" y="7930407"/>
            <a:ext cx="7624137" cy="4345758"/>
          </a:xfrm>
          <a:custGeom>
            <a:avLst/>
            <a:gdLst/>
            <a:ahLst/>
            <a:cxnLst/>
            <a:rect r="r" b="b" t="t" l="l"/>
            <a:pathLst>
              <a:path h="4345758" w="7624137">
                <a:moveTo>
                  <a:pt x="0" y="0"/>
                </a:moveTo>
                <a:lnTo>
                  <a:pt x="7624136" y="0"/>
                </a:lnTo>
                <a:lnTo>
                  <a:pt x="7624136" y="4345758"/>
                </a:lnTo>
                <a:lnTo>
                  <a:pt x="0" y="4345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95504" y="1844429"/>
            <a:ext cx="648496" cy="630810"/>
          </a:xfrm>
          <a:custGeom>
            <a:avLst/>
            <a:gdLst/>
            <a:ahLst/>
            <a:cxnLst/>
            <a:rect r="r" b="b" t="t" l="l"/>
            <a:pathLst>
              <a:path h="630810" w="648496">
                <a:moveTo>
                  <a:pt x="0" y="0"/>
                </a:moveTo>
                <a:lnTo>
                  <a:pt x="648496" y="0"/>
                </a:lnTo>
                <a:lnTo>
                  <a:pt x="648496" y="630809"/>
                </a:lnTo>
                <a:lnTo>
                  <a:pt x="0" y="630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1072" y="2475238"/>
            <a:ext cx="5686867" cy="5701119"/>
          </a:xfrm>
          <a:custGeom>
            <a:avLst/>
            <a:gdLst/>
            <a:ahLst/>
            <a:cxnLst/>
            <a:rect r="r" b="b" t="t" l="l"/>
            <a:pathLst>
              <a:path h="5701119" w="5686867">
                <a:moveTo>
                  <a:pt x="0" y="0"/>
                </a:moveTo>
                <a:lnTo>
                  <a:pt x="5686866" y="0"/>
                </a:lnTo>
                <a:lnTo>
                  <a:pt x="5686866" y="5701120"/>
                </a:lnTo>
                <a:lnTo>
                  <a:pt x="0" y="5701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29615" y="3400908"/>
            <a:ext cx="3849781" cy="384978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-25000" r="0" b="-25000"/>
              </a:stretch>
            </a:blipFill>
            <a:ln w="57150" cap="sq">
              <a:gradFill>
                <a:gsLst>
                  <a:gs pos="0">
                    <a:srgbClr val="F0CD77">
                      <a:alpha val="100000"/>
                    </a:srgbClr>
                  </a:gs>
                  <a:gs pos="100000">
                    <a:srgbClr val="C99F5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63848" y="3054455"/>
            <a:ext cx="8340841" cy="159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8"/>
              </a:lnSpc>
              <a:spcBef>
                <a:spcPct val="0"/>
              </a:spcBef>
            </a:pPr>
            <a:r>
              <a:rPr lang="en-US" b="true" sz="4477" spc="1240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CONTINUIDAD DE DATOS: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55687" y="5272542"/>
            <a:ext cx="8349002" cy="1728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  <a:spcBef>
                <a:spcPct val="0"/>
              </a:spcBef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Aplicamos lógica de resiliencia para asegurar que el historial de precios esté siempre completo, eliminando errores por caídas temporales de servicios externos.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73648" y="-2051201"/>
            <a:ext cx="7624137" cy="4345758"/>
          </a:xfrm>
          <a:custGeom>
            <a:avLst/>
            <a:gdLst/>
            <a:ahLst/>
            <a:cxnLst/>
            <a:rect r="r" b="b" t="t" l="l"/>
            <a:pathLst>
              <a:path h="4345758" w="7624137">
                <a:moveTo>
                  <a:pt x="0" y="0"/>
                </a:moveTo>
                <a:lnTo>
                  <a:pt x="7624137" y="0"/>
                </a:lnTo>
                <a:lnTo>
                  <a:pt x="7624137" y="4345758"/>
                </a:lnTo>
                <a:lnTo>
                  <a:pt x="0" y="4345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13898" y="943013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0"/>
                </a:moveTo>
                <a:lnTo>
                  <a:pt x="7674102" y="0"/>
                </a:lnTo>
                <a:lnTo>
                  <a:pt x="76741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969383" y="7930407"/>
            <a:ext cx="7624137" cy="4345758"/>
          </a:xfrm>
          <a:custGeom>
            <a:avLst/>
            <a:gdLst/>
            <a:ahLst/>
            <a:cxnLst/>
            <a:rect r="r" b="b" t="t" l="l"/>
            <a:pathLst>
              <a:path h="4345758" w="7624137">
                <a:moveTo>
                  <a:pt x="0" y="0"/>
                </a:moveTo>
                <a:lnTo>
                  <a:pt x="7624136" y="0"/>
                </a:lnTo>
                <a:lnTo>
                  <a:pt x="7624136" y="4345758"/>
                </a:lnTo>
                <a:lnTo>
                  <a:pt x="0" y="4345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25197" y="6283049"/>
            <a:ext cx="5090746" cy="2666278"/>
          </a:xfrm>
          <a:custGeom>
            <a:avLst/>
            <a:gdLst/>
            <a:ahLst/>
            <a:cxnLst/>
            <a:rect r="r" b="b" t="t" l="l"/>
            <a:pathLst>
              <a:path h="2666278" w="5090746">
                <a:moveTo>
                  <a:pt x="0" y="0"/>
                </a:moveTo>
                <a:lnTo>
                  <a:pt x="5090746" y="0"/>
                </a:lnTo>
                <a:lnTo>
                  <a:pt x="5090746" y="2666278"/>
                </a:lnTo>
                <a:lnTo>
                  <a:pt x="0" y="2666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1072" y="2475304"/>
            <a:ext cx="7532928" cy="159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8"/>
              </a:lnSpc>
              <a:spcBef>
                <a:spcPct val="0"/>
              </a:spcBef>
            </a:pPr>
            <a:r>
              <a:rPr lang="en-US" b="true" sz="4477" spc="1240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SINCRONIZACIÓN CRÍTICA: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1072" y="4375633"/>
            <a:ext cx="7669890" cy="1728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  <a:spcBef>
                <a:spcPct val="0"/>
              </a:spcBef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sistema se dispara vía EventBridge a las 5:55 PM (México) para capturar el cierre operativo del mercado UTC y analizar tendencias diarias reales.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95504" y="1844429"/>
            <a:ext cx="648496" cy="630810"/>
          </a:xfrm>
          <a:custGeom>
            <a:avLst/>
            <a:gdLst/>
            <a:ahLst/>
            <a:cxnLst/>
            <a:rect r="r" b="b" t="t" l="l"/>
            <a:pathLst>
              <a:path h="630810" w="648496">
                <a:moveTo>
                  <a:pt x="0" y="0"/>
                </a:moveTo>
                <a:lnTo>
                  <a:pt x="648496" y="0"/>
                </a:lnTo>
                <a:lnTo>
                  <a:pt x="648496" y="630809"/>
                </a:lnTo>
                <a:lnTo>
                  <a:pt x="0" y="630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1926" y="2055288"/>
            <a:ext cx="6785896" cy="6783062"/>
          </a:xfrm>
          <a:custGeom>
            <a:avLst/>
            <a:gdLst/>
            <a:ahLst/>
            <a:cxnLst/>
            <a:rect r="r" b="b" t="t" l="l"/>
            <a:pathLst>
              <a:path h="6783062" w="6785896">
                <a:moveTo>
                  <a:pt x="0" y="0"/>
                </a:moveTo>
                <a:lnTo>
                  <a:pt x="6785896" y="0"/>
                </a:lnTo>
                <a:lnTo>
                  <a:pt x="6785896" y="6783062"/>
                </a:lnTo>
                <a:lnTo>
                  <a:pt x="0" y="67830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95504" y="3183868"/>
            <a:ext cx="6447200" cy="159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8"/>
              </a:lnSpc>
              <a:spcBef>
                <a:spcPct val="0"/>
              </a:spcBef>
            </a:pPr>
            <a:r>
              <a:rPr lang="en-US" b="true" sz="4477" spc="1240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EFICIENCIA OPERATIVA: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95504" y="5268926"/>
            <a:ext cx="8349002" cy="129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  <a:spcBef>
                <a:spcPct val="0"/>
              </a:spcBef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 procesar datos solo una vez al día, minimizamos el gasto de créditos en la nube, operando bajo una filosofía de alto rendimiento y bajo costo.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845748" y="3307693"/>
            <a:ext cx="4278252" cy="4278252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FEBD0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223" t="-25046" r="223" b="-2504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73648" y="-2051201"/>
            <a:ext cx="7624137" cy="4345758"/>
          </a:xfrm>
          <a:custGeom>
            <a:avLst/>
            <a:gdLst/>
            <a:ahLst/>
            <a:cxnLst/>
            <a:rect r="r" b="b" t="t" l="l"/>
            <a:pathLst>
              <a:path h="4345758" w="7624137">
                <a:moveTo>
                  <a:pt x="0" y="0"/>
                </a:moveTo>
                <a:lnTo>
                  <a:pt x="7624137" y="0"/>
                </a:lnTo>
                <a:lnTo>
                  <a:pt x="7624137" y="4345758"/>
                </a:lnTo>
                <a:lnTo>
                  <a:pt x="0" y="4345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13898" y="943013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0"/>
                </a:moveTo>
                <a:lnTo>
                  <a:pt x="7674102" y="0"/>
                </a:lnTo>
                <a:lnTo>
                  <a:pt x="76741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969383" y="7930407"/>
            <a:ext cx="7624137" cy="4345758"/>
          </a:xfrm>
          <a:custGeom>
            <a:avLst/>
            <a:gdLst/>
            <a:ahLst/>
            <a:cxnLst/>
            <a:rect r="r" b="b" t="t" l="l"/>
            <a:pathLst>
              <a:path h="4345758" w="7624137">
                <a:moveTo>
                  <a:pt x="0" y="0"/>
                </a:moveTo>
                <a:lnTo>
                  <a:pt x="7624136" y="0"/>
                </a:lnTo>
                <a:lnTo>
                  <a:pt x="7624136" y="4345758"/>
                </a:lnTo>
                <a:lnTo>
                  <a:pt x="0" y="4345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525834"/>
            <a:ext cx="11817785" cy="180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0"/>
              </a:lnSpc>
              <a:spcBef>
                <a:spcPct val="0"/>
              </a:spcBef>
            </a:pPr>
            <a:r>
              <a:rPr lang="en-US" sz="1052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INGESTA DE DATOS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28819" y="-6988865"/>
            <a:ext cx="10104369" cy="1010436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>
                <a:alphaModFix amt="17000"/>
              </a:blip>
              <a:stretch>
                <a:fillRect l="-58878" t="-18048" r="-58439" b="-1777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6477316" y="1556814"/>
            <a:ext cx="10104369" cy="1010436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>
                <a:alphaModFix amt="17000"/>
              </a:blip>
              <a:stretch>
                <a:fillRect l="-58878" t="-18048" r="-58439" b="-1777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496026" y="6405028"/>
            <a:ext cx="2262053" cy="2262053"/>
          </a:xfrm>
          <a:custGeom>
            <a:avLst/>
            <a:gdLst/>
            <a:ahLst/>
            <a:cxnLst/>
            <a:rect r="r" b="b" t="t" l="l"/>
            <a:pathLst>
              <a:path h="2262053" w="2262053">
                <a:moveTo>
                  <a:pt x="0" y="0"/>
                </a:moveTo>
                <a:lnTo>
                  <a:pt x="2262054" y="0"/>
                </a:lnTo>
                <a:lnTo>
                  <a:pt x="2262054" y="2262053"/>
                </a:lnTo>
                <a:lnTo>
                  <a:pt x="0" y="22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63523" y="6346282"/>
            <a:ext cx="3140807" cy="2305909"/>
          </a:xfrm>
          <a:custGeom>
            <a:avLst/>
            <a:gdLst/>
            <a:ahLst/>
            <a:cxnLst/>
            <a:rect r="r" b="b" t="t" l="l"/>
            <a:pathLst>
              <a:path h="2305909" w="3140807">
                <a:moveTo>
                  <a:pt x="0" y="0"/>
                </a:moveTo>
                <a:lnTo>
                  <a:pt x="3140807" y="0"/>
                </a:lnTo>
                <a:lnTo>
                  <a:pt x="3140807" y="2305908"/>
                </a:lnTo>
                <a:lnTo>
                  <a:pt x="0" y="23059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17517" y="6446514"/>
            <a:ext cx="2563934" cy="2227146"/>
          </a:xfrm>
          <a:custGeom>
            <a:avLst/>
            <a:gdLst/>
            <a:ahLst/>
            <a:cxnLst/>
            <a:rect r="r" b="b" t="t" l="l"/>
            <a:pathLst>
              <a:path h="2227146" w="2563934">
                <a:moveTo>
                  <a:pt x="0" y="0"/>
                </a:moveTo>
                <a:lnTo>
                  <a:pt x="2563934" y="0"/>
                </a:lnTo>
                <a:lnTo>
                  <a:pt x="2563934" y="2227145"/>
                </a:lnTo>
                <a:lnTo>
                  <a:pt x="0" y="22271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4775" t="-17477" r="-33414" b="-1152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824336" y="3795220"/>
            <a:ext cx="4639328" cy="216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0"/>
              </a:lnSpc>
              <a:spcBef>
                <a:spcPct val="0"/>
              </a:spcBef>
            </a:pP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información se almacena en Amazon S3 en formato CSV, funcionando como un registro histórico fiel de la actividad del mercado.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0112" y="3975757"/>
            <a:ext cx="4531896" cy="219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0"/>
              </a:lnSpc>
              <a:spcBef>
                <a:spcPct val="0"/>
              </a:spcBef>
            </a:pP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Utilizamos scripts de Python en AWS Lambda para extraer datos de precio y volumen directamente desde la API de Binance.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1105" y="2367642"/>
            <a:ext cx="4709909" cy="108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6"/>
              </a:lnSpc>
              <a:spcBef>
                <a:spcPct val="0"/>
              </a:spcBef>
            </a:pPr>
            <a:r>
              <a:rPr lang="en-US" b="true" sz="3061" spc="848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CAPTURA AUTOMATIZADA: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63523" y="2637911"/>
            <a:ext cx="3960954" cy="54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6"/>
              </a:lnSpc>
              <a:spcBef>
                <a:spcPct val="0"/>
              </a:spcBef>
            </a:pPr>
            <a:r>
              <a:rPr lang="en-US" b="true" sz="3061" spc="848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RESGUARDO: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84096" y="2367642"/>
            <a:ext cx="4440211" cy="108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6"/>
              </a:lnSpc>
              <a:spcBef>
                <a:spcPct val="0"/>
              </a:spcBef>
            </a:pPr>
            <a:r>
              <a:rPr lang="en-US" b="true" sz="3061" spc="848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BASE DE ANÁLISIS: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84979" y="3580508"/>
            <a:ext cx="4639328" cy="259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0"/>
              </a:lnSpc>
              <a:spcBef>
                <a:spcPct val="0"/>
              </a:spcBef>
            </a:pPr>
            <a:r>
              <a:rPr lang="en-US" sz="2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e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tapa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tiz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histori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sté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om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ple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ible, permitie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ndo 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ist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ema detecta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 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tro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nes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antes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ualqu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 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aler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5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06369" y="3661869"/>
            <a:ext cx="2963262" cy="2963262"/>
          </a:xfrm>
          <a:custGeom>
            <a:avLst/>
            <a:gdLst/>
            <a:ahLst/>
            <a:cxnLst/>
            <a:rect r="r" b="b" t="t" l="l"/>
            <a:pathLst>
              <a:path h="2963262" w="2963262">
                <a:moveTo>
                  <a:pt x="0" y="0"/>
                </a:moveTo>
                <a:lnTo>
                  <a:pt x="2963262" y="0"/>
                </a:lnTo>
                <a:lnTo>
                  <a:pt x="2963262" y="2963262"/>
                </a:lnTo>
                <a:lnTo>
                  <a:pt x="0" y="296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79783" y="3984721"/>
            <a:ext cx="2963262" cy="2963262"/>
          </a:xfrm>
          <a:custGeom>
            <a:avLst/>
            <a:gdLst/>
            <a:ahLst/>
            <a:cxnLst/>
            <a:rect r="r" b="b" t="t" l="l"/>
            <a:pathLst>
              <a:path h="2963262" w="2963262">
                <a:moveTo>
                  <a:pt x="0" y="0"/>
                </a:moveTo>
                <a:lnTo>
                  <a:pt x="2963262" y="0"/>
                </a:lnTo>
                <a:lnTo>
                  <a:pt x="2963262" y="2963262"/>
                </a:lnTo>
                <a:lnTo>
                  <a:pt x="0" y="296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88057" y="5203063"/>
            <a:ext cx="2844136" cy="2844136"/>
          </a:xfrm>
          <a:custGeom>
            <a:avLst/>
            <a:gdLst/>
            <a:ahLst/>
            <a:cxnLst/>
            <a:rect r="r" b="b" t="t" l="l"/>
            <a:pathLst>
              <a:path h="2844136" w="2844136">
                <a:moveTo>
                  <a:pt x="0" y="0"/>
                </a:moveTo>
                <a:lnTo>
                  <a:pt x="2844136" y="0"/>
                </a:lnTo>
                <a:lnTo>
                  <a:pt x="2844136" y="2844136"/>
                </a:lnTo>
                <a:lnTo>
                  <a:pt x="0" y="28441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2026" y="4437012"/>
            <a:ext cx="10344042" cy="87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Por medio de AWS Glue se hace la depuración de datos, los cuales se guardan en forma de Parquets.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83479" y="3357068"/>
            <a:ext cx="1394871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692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FILTRADO Y LIMPIEZA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97515" y="2444527"/>
            <a:ext cx="8292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1107">
                <a:solidFill>
                  <a:srgbClr val="FEBD02"/>
                </a:solidFill>
                <a:latin typeface="Poppins Bold"/>
                <a:ea typeface="Poppins Bold"/>
                <a:cs typeface="Poppins Bold"/>
                <a:sym typeface="Poppins Bold"/>
              </a:rPr>
              <a:t>BRONZE A SILVER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93391" y="2813146"/>
            <a:ext cx="2963262" cy="2963262"/>
          </a:xfrm>
          <a:custGeom>
            <a:avLst/>
            <a:gdLst/>
            <a:ahLst/>
            <a:cxnLst/>
            <a:rect r="r" b="b" t="t" l="l"/>
            <a:pathLst>
              <a:path h="2963262" w="2963262">
                <a:moveTo>
                  <a:pt x="0" y="0"/>
                </a:moveTo>
                <a:lnTo>
                  <a:pt x="2963262" y="0"/>
                </a:lnTo>
                <a:lnTo>
                  <a:pt x="2963262" y="2963261"/>
                </a:lnTo>
                <a:lnTo>
                  <a:pt x="0" y="2963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93619" y="7690982"/>
            <a:ext cx="2963262" cy="2963262"/>
          </a:xfrm>
          <a:custGeom>
            <a:avLst/>
            <a:gdLst/>
            <a:ahLst/>
            <a:cxnLst/>
            <a:rect r="r" b="b" t="t" l="l"/>
            <a:pathLst>
              <a:path h="2963262" w="2963262">
                <a:moveTo>
                  <a:pt x="0" y="0"/>
                </a:moveTo>
                <a:lnTo>
                  <a:pt x="2963262" y="0"/>
                </a:lnTo>
                <a:lnTo>
                  <a:pt x="2963262" y="2963262"/>
                </a:lnTo>
                <a:lnTo>
                  <a:pt x="0" y="296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44758" y="6574128"/>
            <a:ext cx="2598484" cy="2598484"/>
          </a:xfrm>
          <a:custGeom>
            <a:avLst/>
            <a:gdLst/>
            <a:ahLst/>
            <a:cxnLst/>
            <a:rect r="r" b="b" t="t" l="l"/>
            <a:pathLst>
              <a:path h="2598484" w="2598484">
                <a:moveTo>
                  <a:pt x="0" y="0"/>
                </a:moveTo>
                <a:lnTo>
                  <a:pt x="2598484" y="0"/>
                </a:lnTo>
                <a:lnTo>
                  <a:pt x="2598484" y="2598485"/>
                </a:lnTo>
                <a:lnTo>
                  <a:pt x="0" y="25984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71979" y="4591493"/>
            <a:ext cx="10344042" cy="129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Mediante AWS Athena se consulta la base de datos de silver, se crea una vista completa para interpretar los datos limpios y se hacen las recomendaciones financieras.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69643" y="3543396"/>
            <a:ext cx="1394871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692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REGLAS DE NEGOCIO Y DATOS PREPARADOS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97515" y="2397221"/>
            <a:ext cx="829297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1107">
                <a:solidFill>
                  <a:srgbClr val="FEBD02"/>
                </a:solidFill>
                <a:latin typeface="Poppins Bold"/>
                <a:ea typeface="Poppins Bold"/>
                <a:cs typeface="Poppins Bold"/>
                <a:sym typeface="Poppins Bold"/>
              </a:rPr>
              <a:t>SILVER A GOLD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73648" y="-2051201"/>
            <a:ext cx="7624137" cy="4345758"/>
          </a:xfrm>
          <a:custGeom>
            <a:avLst/>
            <a:gdLst/>
            <a:ahLst/>
            <a:cxnLst/>
            <a:rect r="r" b="b" t="t" l="l"/>
            <a:pathLst>
              <a:path h="4345758" w="7624137">
                <a:moveTo>
                  <a:pt x="0" y="0"/>
                </a:moveTo>
                <a:lnTo>
                  <a:pt x="7624137" y="0"/>
                </a:lnTo>
                <a:lnTo>
                  <a:pt x="7624137" y="4345758"/>
                </a:lnTo>
                <a:lnTo>
                  <a:pt x="0" y="4345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13898" y="943013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0"/>
                </a:moveTo>
                <a:lnTo>
                  <a:pt x="7674102" y="0"/>
                </a:lnTo>
                <a:lnTo>
                  <a:pt x="76741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4110" y="3200767"/>
            <a:ext cx="7669890" cy="367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0"/>
              </a:lnSpc>
              <a:spcBef>
                <a:spcPct val="0"/>
              </a:spcBef>
            </a:pPr>
            <a:r>
              <a:rPr lang="en-US" sz="1052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CALIDAD DE DATOS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969383" y="7930407"/>
            <a:ext cx="7624137" cy="4345758"/>
          </a:xfrm>
          <a:custGeom>
            <a:avLst/>
            <a:gdLst/>
            <a:ahLst/>
            <a:cxnLst/>
            <a:rect r="r" b="b" t="t" l="l"/>
            <a:pathLst>
              <a:path h="4345758" w="7624137">
                <a:moveTo>
                  <a:pt x="0" y="0"/>
                </a:moveTo>
                <a:lnTo>
                  <a:pt x="7624136" y="0"/>
                </a:lnTo>
                <a:lnTo>
                  <a:pt x="7624136" y="4345758"/>
                </a:lnTo>
                <a:lnTo>
                  <a:pt x="0" y="4345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7896" y="3064408"/>
            <a:ext cx="648496" cy="630810"/>
          </a:xfrm>
          <a:custGeom>
            <a:avLst/>
            <a:gdLst/>
            <a:ahLst/>
            <a:cxnLst/>
            <a:rect r="r" b="b" t="t" l="l"/>
            <a:pathLst>
              <a:path h="630810" w="648496">
                <a:moveTo>
                  <a:pt x="0" y="0"/>
                </a:moveTo>
                <a:lnTo>
                  <a:pt x="648496" y="0"/>
                </a:lnTo>
                <a:lnTo>
                  <a:pt x="648496" y="630810"/>
                </a:lnTo>
                <a:lnTo>
                  <a:pt x="0" y="630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28819" y="-6988865"/>
            <a:ext cx="10104369" cy="1010436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>
                <a:alphaModFix amt="17000"/>
              </a:blip>
              <a:stretch>
                <a:fillRect l="-58878" t="-18048" r="-58439" b="-1777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6477316" y="1556814"/>
            <a:ext cx="10104369" cy="1010436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>
                <a:alphaModFix amt="17000"/>
              </a:blip>
              <a:stretch>
                <a:fillRect l="-58878" t="-18048" r="-58439" b="-1777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44590" y="2570461"/>
            <a:ext cx="7904450" cy="601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45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clave es nuestra Arquitectura Medallion, que impide que el sistema tome decisiones con datos "en bruto".</a:t>
            </a:r>
          </a:p>
          <a:p>
            <a:pPr algn="l">
              <a:lnSpc>
                <a:spcPts val="3440"/>
              </a:lnSpc>
            </a:pPr>
          </a:p>
          <a:p>
            <a:pPr algn="l" marL="530499" indent="-265249" lvl="1">
              <a:lnSpc>
                <a:spcPts val="3440"/>
              </a:lnSpc>
              <a:buFont typeface="Arial"/>
              <a:buChar char="•"/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 datos pasan por un proceso de limpieza en AWS Glue donde se eliminan anomalías y registros inconsistentes.</a:t>
            </a:r>
          </a:p>
          <a:p>
            <a:pPr algn="l">
              <a:lnSpc>
                <a:spcPts val="3440"/>
              </a:lnSpc>
            </a:pPr>
          </a:p>
          <a:p>
            <a:pPr algn="l" marL="530499" indent="-265249" lvl="1">
              <a:lnSpc>
                <a:spcPts val="34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 descarta cualquier registro que no tenga calculados los 8 indicadores financieros base (como la señal del MACD), asegurando que la predicción final en la capa Gold sea muy íntegra.</a:t>
            </a:r>
          </a:p>
          <a:p>
            <a:pPr algn="l">
              <a:lnSpc>
                <a:spcPts val="34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712446" y="2904073"/>
            <a:ext cx="5776425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1107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PREGUNTA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42144" y="4157671"/>
            <a:ext cx="5776425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spc="692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¿CÓMO GARANTIZA MARKETMATRIX QUE LA RECOMENDACIÓN DE "COMPRA/VENTA" NO SEA ERRÓNEA POR RUIDO EN EL MERCADO?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19752" y="1532224"/>
            <a:ext cx="648496" cy="630810"/>
          </a:xfrm>
          <a:custGeom>
            <a:avLst/>
            <a:gdLst/>
            <a:ahLst/>
            <a:cxnLst/>
            <a:rect r="r" b="b" t="t" l="l"/>
            <a:pathLst>
              <a:path h="630810" w="648496">
                <a:moveTo>
                  <a:pt x="0" y="0"/>
                </a:moveTo>
                <a:lnTo>
                  <a:pt x="648496" y="0"/>
                </a:lnTo>
                <a:lnTo>
                  <a:pt x="648496" y="630809"/>
                </a:lnTo>
                <a:lnTo>
                  <a:pt x="0" y="630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06369" y="3661869"/>
            <a:ext cx="2963262" cy="2963262"/>
          </a:xfrm>
          <a:custGeom>
            <a:avLst/>
            <a:gdLst/>
            <a:ahLst/>
            <a:cxnLst/>
            <a:rect r="r" b="b" t="t" l="l"/>
            <a:pathLst>
              <a:path h="2963262" w="2963262">
                <a:moveTo>
                  <a:pt x="0" y="0"/>
                </a:moveTo>
                <a:lnTo>
                  <a:pt x="2963262" y="0"/>
                </a:lnTo>
                <a:lnTo>
                  <a:pt x="2963262" y="2963262"/>
                </a:lnTo>
                <a:lnTo>
                  <a:pt x="0" y="2963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41230" y="4712793"/>
            <a:ext cx="13633211" cy="34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45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Esta hora es estrategica para la sincronizacion con el mercado global de activos digitales</a:t>
            </a:r>
          </a:p>
          <a:p>
            <a:pPr algn="ctr">
              <a:lnSpc>
                <a:spcPts val="3440"/>
              </a:lnSpc>
            </a:pPr>
          </a:p>
          <a:p>
            <a:pPr algn="l" marL="530499" indent="-265249" lvl="1">
              <a:lnSpc>
                <a:spcPts val="3440"/>
              </a:lnSpc>
              <a:buFont typeface="Arial"/>
              <a:buChar char="•"/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las 5:55 PM finaliza el ciclo operativo de Bitcoin según el horario universal (UTC).</a:t>
            </a:r>
          </a:p>
          <a:p>
            <a:pPr algn="l">
              <a:lnSpc>
                <a:spcPts val="3440"/>
              </a:lnSpc>
            </a:pPr>
          </a:p>
          <a:p>
            <a:pPr algn="l" marL="530499" indent="-265249" lvl="1">
              <a:lnSpc>
                <a:spcPts val="3440"/>
              </a:lnSpc>
              <a:buFont typeface="Arial"/>
              <a:buChar char="•"/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Capturar la "foto final" del día permite al sistema analizar patrones de cierre reales, eliminando la volatilidad engañosa del día y ofreciendo una base sólida para la estrategia del día siguiente.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779783" y="3984721"/>
            <a:ext cx="2963262" cy="2963262"/>
          </a:xfrm>
          <a:custGeom>
            <a:avLst/>
            <a:gdLst/>
            <a:ahLst/>
            <a:cxnLst/>
            <a:rect r="r" b="b" t="t" l="l"/>
            <a:pathLst>
              <a:path h="2963262" w="2963262">
                <a:moveTo>
                  <a:pt x="0" y="0"/>
                </a:moveTo>
                <a:lnTo>
                  <a:pt x="2963262" y="0"/>
                </a:lnTo>
                <a:lnTo>
                  <a:pt x="2963262" y="2963262"/>
                </a:lnTo>
                <a:lnTo>
                  <a:pt x="0" y="2963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83479" y="3357068"/>
            <a:ext cx="13948714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692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¿POR QUÉ EL SISTEMA REALIZA SU ANÁLISIS PRINCIPAL EXACTAMENTE A LAS 5:55 PM (HORA MÉXICO)?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55787" y="2488677"/>
            <a:ext cx="5776425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1107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PREGUNTA 2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00058" y="1627513"/>
            <a:ext cx="648496" cy="630810"/>
          </a:xfrm>
          <a:custGeom>
            <a:avLst/>
            <a:gdLst/>
            <a:ahLst/>
            <a:cxnLst/>
            <a:rect r="r" b="b" t="t" l="l"/>
            <a:pathLst>
              <a:path h="630810" w="648496">
                <a:moveTo>
                  <a:pt x="0" y="0"/>
                </a:moveTo>
                <a:lnTo>
                  <a:pt x="648496" y="0"/>
                </a:lnTo>
                <a:lnTo>
                  <a:pt x="648496" y="630810"/>
                </a:lnTo>
                <a:lnTo>
                  <a:pt x="0" y="630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041861"/>
            <a:ext cx="4953334" cy="4951264"/>
          </a:xfrm>
          <a:custGeom>
            <a:avLst/>
            <a:gdLst/>
            <a:ahLst/>
            <a:cxnLst/>
            <a:rect r="r" b="b" t="t" l="l"/>
            <a:pathLst>
              <a:path h="4951264" w="4953334">
                <a:moveTo>
                  <a:pt x="0" y="0"/>
                </a:moveTo>
                <a:lnTo>
                  <a:pt x="4953334" y="0"/>
                </a:lnTo>
                <a:lnTo>
                  <a:pt x="4953334" y="4951264"/>
                </a:lnTo>
                <a:lnTo>
                  <a:pt x="0" y="49512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00058" y="2299633"/>
            <a:ext cx="5962582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1107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PREGUNTA 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00058" y="4272462"/>
            <a:ext cx="10933912" cy="516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45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clave es el uso de una infraestructura Serverless, que permite que el sistema opere con un costo de operación muy bajo al pagar solo por lo que se usa. </a:t>
            </a:r>
          </a:p>
          <a:p>
            <a:pPr algn="l">
              <a:lnSpc>
                <a:spcPts val="3440"/>
              </a:lnSpc>
            </a:pPr>
          </a:p>
          <a:p>
            <a:pPr algn="l" marL="530499" indent="-265249" lvl="1">
              <a:lnSpc>
                <a:spcPts val="3440"/>
              </a:lnSpc>
              <a:buFont typeface="Arial"/>
              <a:buChar char="•"/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Solo se ejecuta el programa una vez al día, eliminando el gasto de mantener un servidor encendido las 24 horas. </a:t>
            </a:r>
          </a:p>
          <a:p>
            <a:pPr algn="l">
              <a:lnSpc>
                <a:spcPts val="3440"/>
              </a:lnSpc>
            </a:pPr>
          </a:p>
          <a:p>
            <a:pPr algn="l" marL="530499" indent="-265249" lvl="1">
              <a:lnSpc>
                <a:spcPts val="3440"/>
              </a:lnSpc>
              <a:buFont typeface="Arial"/>
              <a:buChar char="•"/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almacenamiento es  barato, ya que los archivos generados ocupan poco espacio y el costo por GB es mínimo. </a:t>
            </a: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  <a:spcBef>
                <a:spcPct val="0"/>
              </a:spcBef>
            </a:pPr>
          </a:p>
          <a:p>
            <a:pPr algn="l">
              <a:lnSpc>
                <a:spcPts val="3440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943922" y="3956048"/>
            <a:ext cx="3122890" cy="3122890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FEBD0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223" t="-25046" r="223" b="-2504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00058" y="3176503"/>
            <a:ext cx="10933912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spc="692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¿ES ECONÓMICAMENTE VIABLE MANTENER ESTE SISTEMA OPERANDO DIARIAMENTE EN LA NUBE?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17314" y="2166814"/>
            <a:ext cx="6516656" cy="6508510"/>
          </a:xfrm>
          <a:custGeom>
            <a:avLst/>
            <a:gdLst/>
            <a:ahLst/>
            <a:cxnLst/>
            <a:rect r="r" b="b" t="t" l="l"/>
            <a:pathLst>
              <a:path h="6508510" w="6516656">
                <a:moveTo>
                  <a:pt x="0" y="0"/>
                </a:moveTo>
                <a:lnTo>
                  <a:pt x="6516656" y="0"/>
                </a:lnTo>
                <a:lnTo>
                  <a:pt x="6516656" y="6508510"/>
                </a:lnTo>
                <a:lnTo>
                  <a:pt x="0" y="65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1152457" y="2797884"/>
            <a:ext cx="5246370" cy="524637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FEBD02">
                <a:alpha val="24706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>
                <a:alphaModFix amt="25000"/>
              </a:blip>
              <a:stretch>
                <a:fillRect l="-20356" t="0" r="-2035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1072" y="2381959"/>
            <a:ext cx="10609798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1107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PREGUNTA 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1072" y="4578226"/>
            <a:ext cx="7669890" cy="301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45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sistema procesa algoritmos basados en RSI (fuerza del mercado) y MACD (tendencia).</a:t>
            </a: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  <a:spcBef>
                <a:spcPct val="0"/>
              </a:spcBef>
            </a:pPr>
            <a:r>
              <a:rPr lang="en-US" b="true" sz="245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Estos indicadores se tratan como números decimales de alta precisión (double), lo que permite al modelo identificar puntos de agotamiento o rebote con rigor científico.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1072" y="3271724"/>
            <a:ext cx="10933912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spc="692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¿QUÉ LÓGICA MATEMÁTICA SUSTENTA LA DECISIÓN DE "COMPRA, VENTA O MANTENER"?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4689" y="9036135"/>
            <a:ext cx="288703" cy="136478"/>
          </a:xfrm>
          <a:custGeom>
            <a:avLst/>
            <a:gdLst/>
            <a:ahLst/>
            <a:cxnLst/>
            <a:rect r="r" b="b" t="t" l="l"/>
            <a:pathLst>
              <a:path h="136478" w="288703">
                <a:moveTo>
                  <a:pt x="0" y="0"/>
                </a:moveTo>
                <a:lnTo>
                  <a:pt x="288702" y="0"/>
                </a:lnTo>
                <a:lnTo>
                  <a:pt x="288702" y="136478"/>
                </a:lnTo>
                <a:lnTo>
                  <a:pt x="0" y="136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17314" y="2166814"/>
            <a:ext cx="6516656" cy="6508510"/>
          </a:xfrm>
          <a:custGeom>
            <a:avLst/>
            <a:gdLst/>
            <a:ahLst/>
            <a:cxnLst/>
            <a:rect r="r" b="b" t="t" l="l"/>
            <a:pathLst>
              <a:path h="6508510" w="6516656">
                <a:moveTo>
                  <a:pt x="0" y="0"/>
                </a:moveTo>
                <a:lnTo>
                  <a:pt x="6516656" y="0"/>
                </a:lnTo>
                <a:lnTo>
                  <a:pt x="6516656" y="6508510"/>
                </a:lnTo>
                <a:lnTo>
                  <a:pt x="0" y="650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1152457" y="2797884"/>
            <a:ext cx="5246370" cy="524637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FEBD02">
                <a:alpha val="24706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>
                <a:alphaModFix amt="25000"/>
              </a:blip>
              <a:stretch>
                <a:fillRect l="-20356" t="0" r="-2035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757968" y="2830267"/>
            <a:ext cx="12382110" cy="5845056"/>
          </a:xfrm>
          <a:custGeom>
            <a:avLst/>
            <a:gdLst/>
            <a:ahLst/>
            <a:cxnLst/>
            <a:rect r="r" b="b" t="t" l="l"/>
            <a:pathLst>
              <a:path h="5845056" w="12382110">
                <a:moveTo>
                  <a:pt x="0" y="0"/>
                </a:moveTo>
                <a:lnTo>
                  <a:pt x="12382111" y="0"/>
                </a:lnTo>
                <a:lnTo>
                  <a:pt x="12382111" y="5845057"/>
                </a:lnTo>
                <a:lnTo>
                  <a:pt x="0" y="58450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492" r="0" b="-1363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30709" y="8911227"/>
            <a:ext cx="701484" cy="34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  <a:spcBef>
                <a:spcPct val="0"/>
              </a:spcBef>
            </a:pPr>
            <a:r>
              <a:rPr lang="en-US" sz="204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next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0B0B">
                <a:alpha val="100000"/>
              </a:srgbClr>
            </a:gs>
            <a:gs pos="100000">
              <a:srgbClr val="20041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40079" y="1113958"/>
            <a:ext cx="1984229" cy="7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9"/>
              </a:lnSpc>
              <a:spcBef>
                <a:spcPct val="0"/>
              </a:spcBef>
            </a:pPr>
            <a:r>
              <a:rPr lang="en-US" sz="46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30416" y="1796804"/>
            <a:ext cx="1803554" cy="25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  <a:spcBef>
                <a:spcPct val="0"/>
              </a:spcBef>
            </a:pPr>
            <a:r>
              <a:rPr lang="en-US" b="true" sz="1384" spc="683">
                <a:solidFill>
                  <a:srgbClr val="FEBD0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CURRENCY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70064" y="3332342"/>
            <a:ext cx="10874915" cy="265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2"/>
              </a:lnSpc>
              <a:spcBef>
                <a:spcPct val="0"/>
              </a:spcBef>
            </a:pPr>
            <a:r>
              <a:rPr lang="en-US" sz="1546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¡GRACIAS!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323549" y="-414120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1"/>
                </a:lnTo>
                <a:lnTo>
                  <a:pt x="0" y="4083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163320" y="3101894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2"/>
                </a:lnTo>
                <a:lnTo>
                  <a:pt x="0" y="4083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16134" y="7063005"/>
            <a:ext cx="528001" cy="528001"/>
          </a:xfrm>
          <a:custGeom>
            <a:avLst/>
            <a:gdLst/>
            <a:ahLst/>
            <a:cxnLst/>
            <a:rect r="r" b="b" t="t" l="l"/>
            <a:pathLst>
              <a:path h="528001" w="528001">
                <a:moveTo>
                  <a:pt x="0" y="0"/>
                </a:moveTo>
                <a:lnTo>
                  <a:pt x="528001" y="0"/>
                </a:lnTo>
                <a:lnTo>
                  <a:pt x="528001" y="528001"/>
                </a:lnTo>
                <a:lnTo>
                  <a:pt x="0" y="528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62956" y="6970046"/>
            <a:ext cx="528001" cy="528001"/>
          </a:xfrm>
          <a:custGeom>
            <a:avLst/>
            <a:gdLst/>
            <a:ahLst/>
            <a:cxnLst/>
            <a:rect r="r" b="b" t="t" l="l"/>
            <a:pathLst>
              <a:path h="528001" w="528001">
                <a:moveTo>
                  <a:pt x="0" y="0"/>
                </a:moveTo>
                <a:lnTo>
                  <a:pt x="528001" y="0"/>
                </a:lnTo>
                <a:lnTo>
                  <a:pt x="528001" y="528001"/>
                </a:lnTo>
                <a:lnTo>
                  <a:pt x="0" y="528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10207" y="7091580"/>
            <a:ext cx="3086024" cy="40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8"/>
              </a:lnSpc>
              <a:spcBef>
                <a:spcPct val="0"/>
              </a:spcBef>
            </a:pPr>
            <a:r>
              <a:rPr lang="en-US" b="true" sz="2370">
                <a:solidFill>
                  <a:srgbClr val="FFCF01"/>
                </a:solidFill>
                <a:latin typeface="TT Norms Bold"/>
                <a:ea typeface="TT Norms Bold"/>
                <a:cs typeface="TT Norms Bold"/>
                <a:sym typeface="TT Norms Bold"/>
              </a:rPr>
              <a:t>+123 456 789 0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57029" y="7007001"/>
            <a:ext cx="3886124" cy="40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8"/>
              </a:lnSpc>
              <a:spcBef>
                <a:spcPct val="0"/>
              </a:spcBef>
            </a:pPr>
            <a:r>
              <a:rPr lang="en-US" b="true" sz="2370">
                <a:solidFill>
                  <a:srgbClr val="FFCF01"/>
                </a:solidFill>
                <a:latin typeface="TT Norms Bold"/>
                <a:ea typeface="TT Norms Bold"/>
                <a:cs typeface="TT Norms Bold"/>
                <a:sym typeface="TT Norms Bold"/>
              </a:rPr>
              <a:t>marketmatrix@mail.com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486400" y="-2238783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2"/>
                </a:lnTo>
                <a:lnTo>
                  <a:pt x="0" y="4083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81451" y="3151547"/>
            <a:ext cx="1035088" cy="1035088"/>
          </a:xfrm>
          <a:custGeom>
            <a:avLst/>
            <a:gdLst/>
            <a:ahLst/>
            <a:cxnLst/>
            <a:rect r="r" b="b" t="t" l="l"/>
            <a:pathLst>
              <a:path h="1035088" w="1035088">
                <a:moveTo>
                  <a:pt x="0" y="0"/>
                </a:moveTo>
                <a:lnTo>
                  <a:pt x="1035088" y="0"/>
                </a:lnTo>
                <a:lnTo>
                  <a:pt x="1035088" y="1035088"/>
                </a:lnTo>
                <a:lnTo>
                  <a:pt x="0" y="10350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08757" y="1359773"/>
            <a:ext cx="3007377" cy="4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MARKET MATRIX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DAHISnivzNA</dc:identifier>
  <dcterms:modified xsi:type="dcterms:W3CDTF">2011-08-01T06:04:30Z</dcterms:modified>
  <cp:revision>1</cp:revision>
  <dc:title>TSI3 - Equipo 2</dc:title>
</cp:coreProperties>
</file>